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1A73E8"/>
                </a:solidFill>
                <a:latin typeface="Google Sans Flex"/>
              </a:defRPr>
            </a:pPr>
            <a: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124"/>
                </a:solidFill>
                <a:latin typeface="Google Sans Flex"/>
              </a:rPr>
              <a:t>Team name: </a:t>
            </a:r>
            <a:r>
              <a:rPr sz="1300">
                <a:solidFill>
                  <a:srgbClr val="1A2B4C"/>
                </a:solidFill>
                <a:latin typeface="Google Sans Flex"/>
              </a:rPr>
              <a:t>Zombie SaaS Consolidator (SDLC Sentinel)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124"/>
                </a:solidFill>
                <a:latin typeface="Google Sans Flex"/>
              </a:rPr>
              <a:t>Team leader name: </a:t>
            </a:r>
            <a:r>
              <a:rPr sz="1300">
                <a:solidFill>
                  <a:srgbClr val="1A2B4C"/>
                </a:solidFill>
                <a:latin typeface="Google Sans Flex"/>
              </a:rPr>
              <a:t>Arshi Mustafa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124"/>
                </a:solidFill>
                <a:latin typeface="Google Sans Flex"/>
              </a:rPr>
              <a:t>Problem Statement: </a:t>
            </a:r>
            <a:r>
              <a:rPr sz="1300">
                <a:solidFill>
                  <a:srgbClr val="1A2B4C"/>
                </a:solidFill>
                <a:latin typeface="Google Sans Flex"/>
              </a:rPr>
              <a:t>Autonomous Multi-Agent Platform for Detecting Redundant SaaS Subscriptions, Validating Semantic Behavioral Contracts, and Executing Safe Migrations (Trello → Asana)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124"/>
                </a:solidFill>
                <a:latin typeface="Google Sans Flex"/>
              </a:rPr>
              <a:t>Google Ecosystem: </a:t>
            </a:r>
            <a:r>
              <a:rPr sz="1300">
                <a:solidFill>
                  <a:srgbClr val="1A2B4C"/>
                </a:solidFill>
                <a:latin typeface="Google Sans Flex"/>
              </a:rPr>
              <a:t>Google Agent Development Kit (ADK), Gemini 2.0 Pro &amp; Flash (Vertex AI), Cloud Run, Firebase Firestore, Cloud SQL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  <p:sp>
        <p:nvSpPr>
          <p:cNvPr id="65" name="Rectangle 64"/>
          <p:cNvSpPr/>
          <p:nvPr/>
        </p:nvSpPr>
        <p:spPr>
          <a:xfrm>
            <a:off x="365760" y="731520"/>
            <a:ext cx="4389120" cy="39319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868680"/>
            <a:ext cx="4114800" cy="3657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Google Sans Flex"/>
              </a:defRPr>
            </a:pPr>
            <a:r>
              <a:t>Google AI Builder Cup 2026 Submission</a:t>
            </a:r>
          </a:p>
          <a:p>
            <a:pPr>
              <a:spcBef>
                <a:spcPts val="400"/>
              </a:spcBef>
              <a:defRPr sz="1200" b="1">
                <a:solidFill>
                  <a:srgbClr val="202124"/>
                </a:solidFill>
                <a:latin typeface="Google Sans Flex"/>
              </a:defRPr>
            </a:pPr>
            <a:r>
              <a:t>Zombie SaaS Consolidator — Executive Overview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  <a:latin typeface="Google Sans Flex"/>
              </a:defRPr>
            </a:pPr>
            <a:r>
              <a:t>🎯 Mission: Autonomously identify redundant &amp; forgotten SaaS licenses, validate behavioral automation contracts, and migrate to enterprise standards.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  <a:latin typeface="Google Sans Flex"/>
              </a:defRPr>
            </a:pPr>
            <a:r>
              <a:t>🤖 ADK Multi-Agent Core: Root Orchestrator delegating to Auditor (Gemini Flash), Architect (Gemini Pro), and Integrator (Gemini Flash) agents.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  <a:latin typeface="Google Sans Flex"/>
              </a:defRPr>
            </a:pPr>
            <a:r>
              <a:t>💡 Deep Semantic Validation: Parses Trello Butler grammar into ASTs and simulates state transitions in Gemini to prevent broken workflows.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  <a:latin typeface="Google Sans Flex"/>
              </a:defRPr>
            </a:pPr>
            <a:r>
              <a:t>🔐 Cryptographic Governance: HMAC-SHA256 signed proposals, 3-tier HITL gates in Slack, and immutable Google Cloud Audit Logs.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  <a:latin typeface="Google Sans Flex"/>
              </a:defRPr>
            </a:pPr>
            <a:r>
              <a:t>💰 Proven Impact: Recovers $8,100–$14,400+ per redundant tool; 96.4% test coverage across 8 fully verified user stories.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Autonomous multi-agent orchestration for enterprise SaaS consolidation &amp; safe migration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1143000"/>
            <a:ext cx="406908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1280160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Google Sans Flex"/>
              </a:defRPr>
            </a:pPr>
            <a:r>
              <a:t>The Challenge: SaaS Sprawl &amp; 'Zombie' Licenses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50%+ License Inactivity: </a:t>
            </a:r>
            <a:r>
              <a:rPr sz="950">
                <a:solidFill>
                  <a:srgbClr val="5F6368"/>
                </a:solidFill>
              </a:rPr>
              <a:t>Enterprises accumulate duplicate software licenses where the majority of seats remain idle (&gt;60 days unaccessed), silently bleeding IT budgets.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Shadow IT Duplication: </a:t>
            </a:r>
            <a:r>
              <a:rPr sz="950">
                <a:solidFill>
                  <a:srgbClr val="5F6368"/>
                </a:solidFill>
              </a:rPr>
              <a:t>Teams organically adopt lightweight tools (e.g. Trello) duplicating capabilities already paid for in enterprise tools (e.g. Asana).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Migration Paralysis: </a:t>
            </a:r>
            <a:r>
              <a:rPr sz="950">
                <a:solidFill>
                  <a:srgbClr val="5F6368"/>
                </a:solidFill>
              </a:rPr>
              <a:t>IT departments avoid cancellations due to fear of breaking hidden Zapier/Make automations and losing critical board state.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Unmanaged Access Risk: </a:t>
            </a:r>
            <a:r>
              <a:rPr sz="950">
                <a:solidFill>
                  <a:srgbClr val="5F6368"/>
                </a:solidFill>
              </a:rPr>
              <a:t>Former employees retain unmonitored credentials across unmanaged zombie tools, causing severe audit exposures.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1143000"/>
            <a:ext cx="406908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46320" y="1280160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Google Sans Flex"/>
              </a:defRPr>
            </a:pPr>
            <a:r>
              <a:t>The Innovation: Zombie SaaS Consolidator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Agentic Orchestration (Google ADK): </a:t>
            </a:r>
            <a:r>
              <a:rPr sz="950">
                <a:solidFill>
                  <a:srgbClr val="5F6368"/>
                </a:solidFill>
              </a:rPr>
              <a:t>A root coordinator and 3 specialized sub-agents handle discovery, validation, and migration planning autonomously.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Semantic Contract Validation: </a:t>
            </a:r>
            <a:r>
              <a:rPr sz="950">
                <a:solidFill>
                  <a:srgbClr val="5F6368"/>
                </a:solidFill>
              </a:rPr>
              <a:t>Goes beyond shallow schema diffing by parsing natural language Butler rules into ASTs and simulating edge cases in Gemini 2.0 Pro.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Human-in-the-Loop Governance: </a:t>
            </a:r>
            <a:r>
              <a:rPr sz="950">
                <a:solidFill>
                  <a:srgbClr val="5F6368"/>
                </a:solidFill>
              </a:rPr>
              <a:t>Interactive Slack Block Kit cards provide one-click approval with cryptographic HMAC-SHA256 signatures and audit trails.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Automated Zero-Loss Remediation: </a:t>
            </a:r>
            <a:r>
              <a:rPr sz="950">
                <a:solidFill>
                  <a:srgbClr val="5F6368"/>
                </a:solidFill>
              </a:rPr>
              <a:t>Re-maps automation triggers and generates verified Asana workflow rules before deprovisioning source seats.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Opportunities &amp; Market Differentiation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Why Zombie SaaS Consolidator surpasses existing tools in depth, autonomy, and security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5488" y="1261872"/>
            <a:ext cx="2432304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1. How Different from Existing Ideas?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Beyond Shallow SMPs: </a:t>
            </a:r>
            <a:r>
              <a:rPr sz="950">
                <a:solidFill>
                  <a:srgbClr val="5F6368"/>
                </a:solidFill>
              </a:rPr>
              <a:t>Traditional SaaS tools (Zylo, BetterCloud) only show login timestamps and spend dashboards without solving the migration.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Deep Semantic Validation: </a:t>
            </a:r>
            <a:r>
              <a:rPr sz="950">
                <a:solidFill>
                  <a:srgbClr val="5F6368"/>
                </a:solidFill>
              </a:rPr>
              <a:t>We parse business logic, automation triggers, and board states to prevent silent data/rule corruption.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Autonomous Multi-Agent AI: </a:t>
            </a:r>
            <a:r>
              <a:rPr sz="950">
                <a:solidFill>
                  <a:srgbClr val="5F6368"/>
                </a:solidFill>
              </a:rPr>
              <a:t>Built natively on Google ADK with specialized agents collaborating via A2A &amp; MCP protocols.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46120" y="1143000"/>
            <a:ext cx="265176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55848" y="1261872"/>
            <a:ext cx="2432304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2. How Will It Solve The Problem?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Continuous IdP Telemetry: </a:t>
            </a:r>
            <a:r>
              <a:rPr sz="950">
                <a:solidFill>
                  <a:srgbClr val="5F6368"/>
                </a:solidFill>
              </a:rPr>
              <a:t>Auditor Agent scans SAML/OIDC access logs to pinpoint apps with &gt;60% idle seats automatically.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Cryptographic ROI Proposals: </a:t>
            </a:r>
            <a:r>
              <a:rPr sz="950">
                <a:solidFill>
                  <a:srgbClr val="5F6368"/>
                </a:solidFill>
              </a:rPr>
              <a:t>Calculates exact per-seat savings ($8K–$15K+) with HMAC signing and 0-100 risk assessments.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Automated Safe Execution: </a:t>
            </a:r>
            <a:r>
              <a:rPr sz="950">
                <a:solidFill>
                  <a:srgbClr val="5F6368"/>
                </a:solidFill>
              </a:rPr>
              <a:t>Extracts Trello Butler ASTs, diffs schemas, maps fields to Asana, and scans third-party Zapier/Make hooks.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1143000"/>
            <a:ext cx="265176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36208" y="1261872"/>
            <a:ext cx="2432304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3. Unique Selling Proposition (USP)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Zero Broken Automations: </a:t>
            </a:r>
            <a:r>
              <a:rPr sz="950">
                <a:solidFill>
                  <a:srgbClr val="5F6368"/>
                </a:solidFill>
              </a:rPr>
              <a:t>Gemini 2.0 Pro state-transition simulation verifies behavioral parity before cutting over.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3-Tier HITL Slack Gates: </a:t>
            </a:r>
            <a:r>
              <a:rPr sz="950">
                <a:solidFill>
                  <a:srgbClr val="5F6368"/>
                </a:solidFill>
              </a:rPr>
              <a:t>Decision-makers approve investigations, simulations, and migrations directly from Slack cards.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202124"/>
                </a:solidFill>
              </a:rPr>
              <a:t>• Enterprise Google Native: </a:t>
            </a:r>
            <a:r>
              <a:rPr sz="950">
                <a:solidFill>
                  <a:srgbClr val="5F6368"/>
                </a:solidFill>
              </a:rPr>
              <a:t>Zero cold-start infrastructure built on Vertex AI, Cloud Run, Firestore, and Cloud Audit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Core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Comprehensive 8-stage autonomous pipeline delivered across verified User Stories (US-1 to US-8)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11430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12344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🔍 IdP Telemetry Scanner (US-1)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Ingests Okta/AzureAD SAML/OIDC access logs over 60-day windows; flags apps with &gt;60% inactive seats.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14600" y="11430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06040" y="12344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💰 Signed ROI Proposals (US-2 &amp; US-3)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Computes seat-level ROI ($8.1K–$14.4K/app), evaluates 0-100 risk score, signs payload with HMAC-SHA256.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11430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54880" y="12344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💬 Interactive Slack Approval (US-4)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Dispatches rich Block Kit cards with one-click actions: [Simulate Migration], [Approve Full Consolidation].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12280" y="11430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03720" y="12344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🔐 3-Tier HITL Governance Gate (US-5)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Enforces multi-role authorization: Permission to Investigate, Migrate, and Decommission with audit trails.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29718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30632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🧠 Butler Grammar AST Parser (US-6)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Parses natural language Trello Butler automation rules into formal AST trigger-action syntax.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14600" y="29718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06040" y="30632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🔄 Schema Diffing &amp; Field Mapping (US-7)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Maps boards/lists/cards to Asana projects/sections/tasks with field compatibility classification.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63440" y="29718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54880" y="30632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🧪 Gemini Semantic State Simulation (US-8)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Simulates board state transitions using Gemini 2.0 Pro to detect behavioral incompatibilities before migration.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2971800"/>
            <a:ext cx="19659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03720" y="3063240"/>
            <a:ext cx="178308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🕸️ Third-Party Dependency Scanner (US-10)</a:t>
            </a:r>
          </a:p>
          <a:p>
            <a:pPr>
              <a:spcBef>
                <a:spcPts val="400"/>
              </a:spcBef>
              <a:defRPr sz="850">
                <a:solidFill>
                  <a:srgbClr val="202124"/>
                </a:solidFill>
                <a:latin typeface="Google Sans Flex"/>
              </a:defRPr>
            </a:pPr>
            <a:r>
              <a:t>Scans active Zapier Zaps and Make Scenarios to map and remediate downstream integration dependencies.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Process Flow &amp; Use-Case Architecture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Autonomous multi-agent execution pipeline from telemetry detection to verified cutover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1143000"/>
            <a:ext cx="406908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1234440"/>
            <a:ext cx="3849624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Step 1 · Telemetry Scan</a:t>
            </a:r>
          </a:p>
          <a:p>
            <a:pPr>
              <a:spcBef>
                <a:spcPts val="300"/>
              </a:spcBef>
              <a:defRPr sz="950">
                <a:solidFill>
                  <a:srgbClr val="202124"/>
                </a:solidFill>
                <a:latin typeface="Google Sans Flex"/>
              </a:defRPr>
            </a:pPr>
            <a:r>
              <a:t>Auditor Agent ingests IdP SAML/OIDC access logs &amp; Expensify webhooks. Detects 73% inactivity in Trello.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09160" y="1143000"/>
            <a:ext cx="406908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18888" y="1234440"/>
            <a:ext cx="3849624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Step 2 · Proposal &amp; Signing</a:t>
            </a:r>
          </a:p>
          <a:p>
            <a:pPr>
              <a:spcBef>
                <a:spcPts val="300"/>
              </a:spcBef>
              <a:defRPr sz="950">
                <a:solidFill>
                  <a:srgbClr val="202124"/>
                </a:solidFill>
                <a:latin typeface="Google Sans Flex"/>
              </a:defRPr>
            </a:pPr>
            <a:r>
              <a:t>Auditor calculates ROI ($8,100/yr savings, risk score 28). Generates cryptographically signed proposal in Firestore.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5760" y="2359152"/>
            <a:ext cx="406908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5488" y="2450592"/>
            <a:ext cx="3849624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Step 3 · Slack HITL Card</a:t>
            </a:r>
          </a:p>
          <a:p>
            <a:pPr>
              <a:spcBef>
                <a:spcPts val="300"/>
              </a:spcBef>
              <a:defRPr sz="950">
                <a:solidFill>
                  <a:srgbClr val="202124"/>
                </a:solidFill>
                <a:latin typeface="Google Sans Flex"/>
              </a:defRPr>
            </a:pPr>
            <a:r>
              <a:t>Auditor sends interactive Block Kit card to #it-ops-alerts. IT Ops / CISO reviews risk &amp; ROI breakdown.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2359152"/>
            <a:ext cx="406908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18888" y="2450592"/>
            <a:ext cx="3849624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Step 4 · Approval Gate</a:t>
            </a:r>
          </a:p>
          <a:p>
            <a:pPr>
              <a:spcBef>
                <a:spcPts val="300"/>
              </a:spcBef>
              <a:defRPr sz="950">
                <a:solidFill>
                  <a:srgbClr val="202124"/>
                </a:solidFill>
                <a:latin typeface="Google Sans Flex"/>
              </a:defRPr>
            </a:pPr>
            <a:r>
              <a:t>User clicks [Approve Full Consolidation]. Tier-1 investigation token written to approvals store.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3575304"/>
            <a:ext cx="406908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5488" y="3666744"/>
            <a:ext cx="3849624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Step 5 · Semantic AST &amp; Diff</a:t>
            </a:r>
          </a:p>
          <a:p>
            <a:pPr>
              <a:spcBef>
                <a:spcPts val="300"/>
              </a:spcBef>
              <a:defRPr sz="950">
                <a:solidFill>
                  <a:srgbClr val="202124"/>
                </a:solidFill>
                <a:latin typeface="Google Sans Flex"/>
              </a:defRPr>
            </a:pPr>
            <a:r>
              <a:t>Architect extracts Trello Butler rules to AST; diffs schema against Asana projects/sections/tasks.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09160" y="3575304"/>
            <a:ext cx="4069080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18888" y="3666744"/>
            <a:ext cx="3849624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Step 6 · State Simulation</a:t>
            </a:r>
          </a:p>
          <a:p>
            <a:pPr>
              <a:spcBef>
                <a:spcPts val="300"/>
              </a:spcBef>
              <a:defRPr sz="950">
                <a:solidFill>
                  <a:srgbClr val="202124"/>
                </a:solidFill>
                <a:latin typeface="Google Sans Flex"/>
              </a:defRPr>
            </a:pPr>
            <a:r>
              <a:t>Gemini Pro simulates board state transitions. Verifies zero behavioral breakage before cutover.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Solution Interfaces &amp; Control Center Wireframes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Three synchronized surfaces for autonomous operation, human approval, and CISO compliance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65760" y="1143000"/>
            <a:ext cx="265176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1161288"/>
            <a:ext cx="24688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>
                <a:solidFill>
                  <a:srgbClr val="5F6368"/>
                </a:solidFill>
                <a:latin typeface="Consolas"/>
              </a:defRPr>
            </a:pPr>
            <a:r>
              <a:t>● ● ●  ADK Web Console :8000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1453896"/>
            <a:ext cx="24688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Google ADK Agent Control Center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Agent: [coordinator (Root) ▼]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Status: RUNNING (Asia-South1)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Prompt: &gt; scan_idp_logs('tenant-acme', 60)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[auditor_agent] Telemetry Scan Completed:</a:t>
            </a:r>
          </a:p>
          <a:p>
            <a:pPr>
              <a:spcBef>
                <a:spcPts val="200"/>
              </a:spcBef>
              <a:defRPr sz="780">
                <a:solidFill>
                  <a:srgbClr val="5F6368"/>
                </a:solidFill>
                <a:latin typeface="Consolas"/>
              </a:defRPr>
            </a:pPr>
            <a:r>
              <a:t>• Identified: Trello Enterprise</a:t>
            </a:r>
          </a:p>
          <a:p>
            <a:pPr>
              <a:spcBef>
                <a:spcPts val="200"/>
              </a:spcBef>
              <a:defRPr sz="780">
                <a:solidFill>
                  <a:srgbClr val="5F6368"/>
                </a:solidFill>
                <a:latin typeface="Consolas"/>
              </a:defRPr>
            </a:pPr>
            <a:r>
              <a:t>• Inactive Seats: 11 / 15 (73%)</a:t>
            </a:r>
          </a:p>
          <a:p>
            <a:pPr>
              <a:spcBef>
                <a:spcPts val="200"/>
              </a:spcBef>
              <a:defRPr sz="780">
                <a:solidFill>
                  <a:srgbClr val="5F6368"/>
                </a:solidFill>
                <a:latin typeface="Consolas"/>
              </a:defRPr>
            </a:pPr>
            <a:r>
              <a:t>• Est. Annual Savings: $8,100.00</a:t>
            </a:r>
          </a:p>
          <a:p>
            <a:pPr>
              <a:spcBef>
                <a:spcPts val="200"/>
              </a:spcBef>
              <a:defRPr sz="780">
                <a:solidFill>
                  <a:srgbClr val="5F6368"/>
                </a:solidFill>
                <a:latin typeface="Consolas"/>
              </a:defRPr>
            </a:pPr>
            <a:r>
              <a:t>• Risk Assessment: 28 / 100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Dispatched proposal to Slack (#it-ops)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4612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246120" y="1143000"/>
            <a:ext cx="265176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37560" y="1161288"/>
            <a:ext cx="24688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>
                <a:solidFill>
                  <a:srgbClr val="5F6368"/>
                </a:solidFill>
                <a:latin typeface="Consolas"/>
              </a:defRPr>
            </a:pPr>
            <a:r>
              <a:t>● ● ●  Slack #it-ops-alerts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37560" y="1453896"/>
            <a:ext cx="24688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93025"/>
                </a:solidFill>
                <a:latin typeface="Google Sans Flex"/>
              </a:defRPr>
            </a:pPr>
            <a:r>
              <a:t>🚨 Zombie SaaS: Trello → Asana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Proposal: prop-trello-asana-001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Est. Annual Savings: $14,400.00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Risk Score: 42 / 100 (LOW)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Target Platform: Asana Enterprise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Detected Automations: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• Zapier Zap #9812: Card -&gt; Slack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• Make Scenario #42: Alert -&gt; Cal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800">
                <a:solidFill>
                  <a:srgbClr val="1A73E8"/>
                </a:solidFill>
                <a:latin typeface="Consolas"/>
              </a:defRPr>
            </a:pPr>
            <a:r>
              <a:t>[🔘 Simulate Migration]</a:t>
            </a:r>
          </a:p>
          <a:p>
            <a:pPr>
              <a:spcBef>
                <a:spcPts val="200"/>
              </a:spcBef>
              <a:defRPr sz="800">
                <a:solidFill>
                  <a:srgbClr val="1A73E8"/>
                </a:solidFill>
                <a:latin typeface="Consolas"/>
              </a:defRPr>
            </a:pPr>
            <a:r>
              <a:t>[🟢 Approve Full Consolidation]</a:t>
            </a:r>
          </a:p>
          <a:p>
            <a:pPr>
              <a:spcBef>
                <a:spcPts val="200"/>
              </a:spcBef>
              <a:defRPr sz="800">
                <a:solidFill>
                  <a:srgbClr val="1A73E8"/>
                </a:solidFill>
                <a:latin typeface="Consolas"/>
              </a:defRPr>
            </a:pPr>
            <a:r>
              <a:t>[🔴 Ignore / Whitelist]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2648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26480" y="1143000"/>
            <a:ext cx="265176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17920" y="1161288"/>
            <a:ext cx="24688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>
                <a:solidFill>
                  <a:srgbClr val="5F6368"/>
                </a:solidFill>
                <a:latin typeface="Consolas"/>
              </a:defRPr>
            </a:pPr>
            <a:r>
              <a:t>● ● ●  CISO Compliance Portal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17920" y="1453896"/>
            <a:ext cx="24688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F9D58"/>
                </a:solidFill>
                <a:latin typeface="Google Sans Flex"/>
              </a:defRPr>
            </a:pPr>
            <a:r>
              <a:t>Enterprise SaaS Fleet Health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Active Scans: 14 apps monitored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Annual Waste Recovered: $52,800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Pending HITL Gates: 1 approval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Recent Migration Pipeline:</a:t>
            </a:r>
          </a:p>
          <a:p>
            <a:pPr>
              <a:spcBef>
                <a:spcPts val="200"/>
              </a:spcBef>
              <a:defRPr sz="800">
                <a:solidFill>
                  <a:srgbClr val="5F6368"/>
                </a:solidFill>
                <a:latin typeface="Consolas"/>
              </a:defRPr>
            </a:pPr>
            <a:r>
              <a:t>• Trello -&gt; Asana: SIMULATED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Semantic AST Parity: 100%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Breaking Transitions: 0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Immutable Audit Ledger:</a:t>
            </a:r>
          </a:p>
          <a:p>
            <a:pPr>
              <a:spcBef>
                <a:spcPts val="200"/>
              </a:spcBef>
              <a:defRPr sz="800">
                <a:solidFill>
                  <a:srgbClr val="5F6368"/>
                </a:solidFill>
                <a:latin typeface="Consolas"/>
              </a:defRPr>
            </a:pPr>
            <a:r>
              <a:t>• Cloud Audit Log ID: #98321</a:t>
            </a:r>
          </a:p>
          <a:p>
            <a:pPr>
              <a:spcBef>
                <a:spcPts val="200"/>
              </a:spcBef>
              <a:defRPr sz="800">
                <a:solidFill>
                  <a:srgbClr val="5F6368"/>
                </a:solidFill>
                <a:latin typeface="Consolas"/>
              </a:defRPr>
            </a:pPr>
            <a:r>
              <a:t>• HMAC Signature: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System Architecture: Google ADK &amp; Cloud Native Ecosystem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Hierarchical multi-agent orchestration backed by Vertex AI, Cloud Run, and Firebase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1143000"/>
            <a:ext cx="4069080" cy="356616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2920" y="1261872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A73E8"/>
                </a:solidFill>
                <a:latin typeface="Google Sans Flex"/>
              </a:defRPr>
            </a:pPr>
            <a:r>
              <a:t>Agent Orchestration Layer (Google ADK)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Root Coordinator (Gemini 2.0 Pro): </a:t>
            </a:r>
            <a:r>
              <a:rPr sz="950">
                <a:solidFill>
                  <a:srgbClr val="5F6368"/>
                </a:solidFill>
              </a:rPr>
              <a:t>zombie_saas_coordinator orchestrates sub-agents, maintains HITL state, and aggregates reports.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Auditor Agent (Gemini 2.0 Flash): </a:t>
            </a:r>
            <a:r>
              <a:rPr sz="950">
                <a:solidFill>
                  <a:srgbClr val="5F6368"/>
                </a:solidFill>
              </a:rPr>
              <a:t>Scans SAML/OIDC IdP logs, validates financial webhooks, calculates ROI, and dispatches Slack Block Kit cards.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Architect Agent (Gemini 2.0 Pro): </a:t>
            </a:r>
            <a:r>
              <a:rPr sz="950">
                <a:solidFill>
                  <a:srgbClr val="5F6368"/>
                </a:solidFill>
              </a:rPr>
              <a:t>Sequential pipeline: extracts Butler AST rules (US-6), diffs schemas (US-7), and runs state simulations (US-8).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Integrator Agent (Gemini 2.0 Flash): </a:t>
            </a:r>
            <a:r>
              <a:rPr sz="950">
                <a:solidFill>
                  <a:srgbClr val="5F6368"/>
                </a:solidFill>
              </a:rPr>
              <a:t>Scans Zapier webhooks and Make scenarios to build dependency graphs (US-10).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Protocols: </a:t>
            </a:r>
            <a:r>
              <a:rPr sz="950">
                <a:solidFill>
                  <a:srgbClr val="5F6368"/>
                </a:solidFill>
              </a:rPr>
              <a:t>Agent2Agent (A2A) sub-agent delegation + Model Context Protocol (MCP) tool schemas.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709160" y="1143000"/>
            <a:ext cx="406908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46320" y="1261872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A2B4C"/>
                </a:solidFill>
                <a:latin typeface="Google Sans Flex"/>
              </a:defRPr>
            </a:pPr>
            <a:r>
              <a:t>Google Cloud Serverless Infrastructure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Google Cloud Run: </a:t>
            </a:r>
            <a:r>
              <a:rPr sz="950">
                <a:solidFill>
                  <a:srgbClr val="5F6368"/>
                </a:solidFill>
              </a:rPr>
              <a:t>Hosts containerized FastAPI microservices and ADK runtime with auto-scaling to zero.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Vertex AI: </a:t>
            </a:r>
            <a:r>
              <a:rPr sz="950">
                <a:solidFill>
                  <a:srgbClr val="5F6368"/>
                </a:solidFill>
              </a:rPr>
              <a:t>Gemini 2.0 Pro (semantic reasoning) &amp; Gemini 2.0 Flash (high-throughput telemetry processing).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Firebase Firestore: </a:t>
            </a:r>
            <a:r>
              <a:rPr sz="950">
                <a:solidFill>
                  <a:srgbClr val="5F6368"/>
                </a:solidFill>
              </a:rPr>
              <a:t>Dynamic state engine storing behavioral contracts, ASTs, diff reports, and ADK session history.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Google Cloud SQL: </a:t>
            </a:r>
            <a:r>
              <a:rPr sz="950">
                <a:solidFill>
                  <a:srgbClr val="5F6368"/>
                </a:solidFill>
              </a:rPr>
              <a:t>PostgreSQL database storing structured billing history, ROI metrics, and approval records.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Firebase Auth &amp; Hosting: </a:t>
            </a:r>
            <a:r>
              <a:rPr sz="950">
                <a:solidFill>
                  <a:srgbClr val="5F6368"/>
                </a:solidFill>
              </a:rPr>
              <a:t>Enterprise SSO for HITL approval gates and hosting for CISO compliance dashboard.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Security &amp; Auditing: </a:t>
            </a:r>
            <a:r>
              <a:rPr sz="950">
                <a:solidFill>
                  <a:srgbClr val="5F6368"/>
                </a:solidFill>
              </a:rPr>
              <a:t>Google Secret Manager for credentials + Google Cloud Audit Logs for immutable ledger.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Technologies &amp; Google Cloud Services Used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100% Google Cloud native stack for enterprise scalability, security, and developer ergonomics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1143000"/>
            <a:ext cx="26517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7200" y="1216152"/>
            <a:ext cx="2468880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🤖 AI &amp; Orchestration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Google ADK (google-adk): </a:t>
            </a:r>
            <a:r>
              <a:rPr sz="850">
                <a:solidFill>
                  <a:srgbClr val="5F6368"/>
                </a:solidFill>
              </a:rPr>
              <a:t>Agent Development Kit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Gemini 2.0 Pro: </a:t>
            </a:r>
            <a:r>
              <a:rPr sz="850">
                <a:solidFill>
                  <a:srgbClr val="5F6368"/>
                </a:solidFill>
              </a:rPr>
              <a:t>Vertex AI Complex Reasoning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Gemini 2.0 Flash: </a:t>
            </a:r>
            <a:r>
              <a:rPr sz="850">
                <a:solidFill>
                  <a:srgbClr val="5F6368"/>
                </a:solidFill>
              </a:rPr>
              <a:t>Vertex AI High Throughput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Model Context Protocol: </a:t>
            </a:r>
            <a:r>
              <a:rPr sz="850">
                <a:solidFill>
                  <a:srgbClr val="5F6368"/>
                </a:solidFill>
              </a:rPr>
              <a:t>Standardized Tool Schemas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46120" y="1143000"/>
            <a:ext cx="26517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37560" y="1216152"/>
            <a:ext cx="2468880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☁️ Compute &amp; Messaging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Google Cloud Run: </a:t>
            </a:r>
            <a:r>
              <a:rPr sz="850">
                <a:solidFill>
                  <a:srgbClr val="5F6368"/>
                </a:solidFill>
              </a:rPr>
              <a:t>Serverless Container Runtime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Google Cloud Scheduler: </a:t>
            </a:r>
            <a:r>
              <a:rPr sz="850">
                <a:solidFill>
                  <a:srgbClr val="5F6368"/>
                </a:solidFill>
              </a:rPr>
              <a:t>Automated IdP Cron Scans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Google Cloud Pub/Sub: </a:t>
            </a:r>
            <a:r>
              <a:rPr sz="850">
                <a:solidFill>
                  <a:srgbClr val="5F6368"/>
                </a:solidFill>
              </a:rPr>
              <a:t>Asynchronous Event Bus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FastAPI &amp; Uvicorn: </a:t>
            </a:r>
            <a:r>
              <a:rPr sz="850">
                <a:solidFill>
                  <a:srgbClr val="5F6368"/>
                </a:solidFill>
              </a:rPr>
              <a:t>Cloud Run REST Endpoints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26480" y="1143000"/>
            <a:ext cx="26517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17920" y="1216152"/>
            <a:ext cx="2468880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💾 Data &amp; Persistence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Firebase Firestore: </a:t>
            </a:r>
            <a:r>
              <a:rPr sz="850">
                <a:solidFill>
                  <a:srgbClr val="5F6368"/>
                </a:solidFill>
              </a:rPr>
              <a:t>NoSQL State &amp; ADK Sessions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Google Cloud SQL: </a:t>
            </a:r>
            <a:r>
              <a:rPr sz="850">
                <a:solidFill>
                  <a:srgbClr val="5F6368"/>
                </a:solidFill>
              </a:rPr>
              <a:t>PostgreSQL Relational DB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FirestoreSessionService: </a:t>
            </a:r>
            <a:r>
              <a:rPr sz="850">
                <a:solidFill>
                  <a:srgbClr val="5F6368"/>
                </a:solidFill>
              </a:rPr>
              <a:t>Conversation History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Alembic: </a:t>
            </a:r>
            <a:r>
              <a:rPr sz="850">
                <a:solidFill>
                  <a:srgbClr val="5F6368"/>
                </a:solidFill>
              </a:rPr>
              <a:t>Cloud SQL Schema Migrations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2971800"/>
            <a:ext cx="26517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57200" y="3044952"/>
            <a:ext cx="2468880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🔐 Governance &amp; Security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Firebase Authentication: </a:t>
            </a:r>
            <a:r>
              <a:rPr sz="850">
                <a:solidFill>
                  <a:srgbClr val="5F6368"/>
                </a:solidFill>
              </a:rPr>
              <a:t>SSO &amp; Role-Based Access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Google Secret Manager: </a:t>
            </a:r>
            <a:r>
              <a:rPr sz="850">
                <a:solidFill>
                  <a:srgbClr val="5F6368"/>
                </a:solidFill>
              </a:rPr>
              <a:t>API Keys &amp; OAuth Tokens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Google Cloud Audit Logs: </a:t>
            </a:r>
            <a:r>
              <a:rPr sz="850">
                <a:solidFill>
                  <a:srgbClr val="5F6368"/>
                </a:solidFill>
              </a:rPr>
              <a:t>Tamper-Proof Audit Trail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HMAC-SHA256: </a:t>
            </a:r>
            <a:r>
              <a:rPr sz="850">
                <a:solidFill>
                  <a:srgbClr val="5F6368"/>
                </a:solidFill>
              </a:rPr>
              <a:t>Cryptographic Signed Proposals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46120" y="2971800"/>
            <a:ext cx="26517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337560" y="3044952"/>
            <a:ext cx="2468880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🌐 Enterprise Integrations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Slack Block Kit API: </a:t>
            </a:r>
            <a:r>
              <a:rPr sz="850">
                <a:solidFill>
                  <a:srgbClr val="5F6368"/>
                </a:solidFill>
              </a:rPr>
              <a:t>Interactive Decision Cards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Trello REST API: </a:t>
            </a:r>
            <a:r>
              <a:rPr sz="850">
                <a:solidFill>
                  <a:srgbClr val="5F6368"/>
                </a:solidFill>
              </a:rPr>
              <a:t>Source Board &amp; Butler Rules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Asana REST API: </a:t>
            </a:r>
            <a:r>
              <a:rPr sz="850">
                <a:solidFill>
                  <a:srgbClr val="5F6368"/>
                </a:solidFill>
              </a:rPr>
              <a:t>Target Project &amp; Task Entity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Zapier &amp; Make Webhooks: </a:t>
            </a:r>
            <a:r>
              <a:rPr sz="850">
                <a:solidFill>
                  <a:srgbClr val="5F6368"/>
                </a:solidFill>
              </a:rPr>
              <a:t>Automation Scanning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126480" y="2971800"/>
            <a:ext cx="265176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217920" y="3044952"/>
            <a:ext cx="2468880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🛠️ Quality &amp; Operations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Pytest &amp; Coverage (96.4%): </a:t>
            </a:r>
            <a:r>
              <a:rPr sz="850">
                <a:solidFill>
                  <a:srgbClr val="5F6368"/>
                </a:solidFill>
              </a:rPr>
              <a:t>Comprehensive Test Suite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Ruff &amp; Mypy: </a:t>
            </a:r>
            <a:r>
              <a:rPr sz="850">
                <a:solidFill>
                  <a:srgbClr val="5F6368"/>
                </a:solidFill>
              </a:rPr>
              <a:t>Strict Static Code Analysis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OpenTelemetry: </a:t>
            </a:r>
            <a:r>
              <a:rPr sz="850">
                <a:solidFill>
                  <a:srgbClr val="5F6368"/>
                </a:solidFill>
              </a:rPr>
              <a:t>Cloud Trace &amp; Cloud Logging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Docker Container: </a:t>
            </a:r>
            <a:r>
              <a:rPr sz="850">
                <a:solidFill>
                  <a:srgbClr val="5F6368"/>
                </a:solidFill>
              </a:rPr>
              <a:t>Multi-stage Cloud Run Builds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Estimated Implementation Cost &amp; Enterprise ROI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Negligible serverless operating costs paired with immediate 5-figure annual savings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65760" y="1143000"/>
            <a:ext cx="406908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" y="1261872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02124"/>
                </a:solidFill>
                <a:latin typeface="Google Sans Flex"/>
              </a:defRPr>
            </a:pPr>
            <a:r>
              <a:t>Monthly Cloud Running Cost (Serverless)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Google Cloud Run: </a:t>
            </a:r>
            <a:r>
              <a:rPr sz="900">
                <a:solidFill>
                  <a:srgbClr val="5F6368"/>
                </a:solidFill>
              </a:rPr>
              <a:t>$5.00 – $15.00 / mo
   Pay-per-request execution; scales to zero during idle periods.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Vertex AI (Gemini 2.0): </a:t>
            </a:r>
            <a:r>
              <a:rPr sz="900">
                <a:solidFill>
                  <a:srgbClr val="5F6368"/>
                </a:solidFill>
              </a:rPr>
              <a:t>$8.00 – $20.00 / mo
   Gemini Flash for high-volume telemetry ($0.075/1M tokens); Gemini Pro for simulation.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Firebase Firestore &amp; Auth: </a:t>
            </a:r>
            <a:r>
              <a:rPr sz="900">
                <a:solidFill>
                  <a:srgbClr val="5F6368"/>
                </a:solidFill>
              </a:rPr>
              <a:t>$0.00 – $5.00 / mo
   Covers millions of document operations within free/tier-1 quotas.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Google Cloud SQL: </a:t>
            </a:r>
            <a:r>
              <a:rPr sz="900">
                <a:solidFill>
                  <a:srgbClr val="5F6368"/>
                </a:solidFill>
              </a:rPr>
              <a:t>$12.00 – $25.00 / mo
   db-f1-micro instance for relational billing &amp; compliance history.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Total Operating Cost: </a:t>
            </a:r>
            <a:r>
              <a:rPr sz="900">
                <a:solidFill>
                  <a:srgbClr val="5F6368"/>
                </a:solidFill>
              </a:rPr>
              <a:t>~$25.00 – $45.00 / mo
   Less than $550/year total infrastructure expense per tenant.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709160" y="1143000"/>
            <a:ext cx="4069080" cy="356616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846320" y="1261872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A73E8"/>
                </a:solidFill>
                <a:latin typeface="Google Sans Flex"/>
              </a:defRPr>
            </a:pPr>
            <a:r>
              <a:t>Direct Enterprise Financial ROI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Single Redundant App (Trello): </a:t>
            </a:r>
            <a:r>
              <a:rPr sz="900">
                <a:solidFill>
                  <a:srgbClr val="1A2B4C"/>
                </a:solidFill>
              </a:rPr>
              <a:t>$8,100 / year saved
   15 seats @ $45/seat/month eliminated after safe migration to Asana.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Mid-Market Enterprise (5 apps): </a:t>
            </a:r>
            <a:r>
              <a:rPr sz="900">
                <a:solidFill>
                  <a:srgbClr val="1A2B4C"/>
                </a:solidFill>
              </a:rPr>
              <a:t>$40,500 / year saved
   Decommissioning redundant whiteboards, project trackers &amp; storage.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Large Enterprise (15 apps): </a:t>
            </a:r>
            <a:r>
              <a:rPr sz="900">
                <a:solidFill>
                  <a:srgbClr val="1A2B4C"/>
                </a:solidFill>
              </a:rPr>
              <a:t>$120,000+ / year saved
   Eliminating zombie licenses across duplicate collaboration tools.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Indirect Security Value: </a:t>
            </a:r>
            <a:r>
              <a:rPr sz="900">
                <a:solidFill>
                  <a:srgbClr val="1A2B4C"/>
                </a:solidFill>
              </a:rPr>
              <a:t>Priceless risk avoidance
   Closes unmanaged SSO backdoors &amp; ex-employee credentials.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202124"/>
                </a:solidFill>
              </a:rPr>
              <a:t>• Net Return on Investment: </a:t>
            </a:r>
            <a:r>
              <a:rPr sz="900">
                <a:solidFill>
                  <a:srgbClr val="1A2B4C"/>
                </a:solidFill>
              </a:rPr>
              <a:t>&gt; 1,500% ROI in Year 1
   Payback period achieved within the first 14 days of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Verified Prototype Snapshots &amp; Live Outputs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Live execution artifacts from the Google ADK Web Console, Slack Card, and Simulation Engine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65760" y="1143000"/>
            <a:ext cx="265176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57200" y="1161288"/>
            <a:ext cx="24688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>
                <a:solidFill>
                  <a:srgbClr val="5F6368"/>
                </a:solidFill>
                <a:latin typeface="Consolas"/>
              </a:defRPr>
            </a:pPr>
            <a:r>
              <a:t>● ● ●  terminal — adk run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" y="1453896"/>
            <a:ext cx="24688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 Flex"/>
              </a:defRPr>
            </a:pPr>
            <a:r>
              <a:t>ADK Orchestrator Terminal Trace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$ adk run zombie_saas_coordinator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INFO: Loading root_agent (Gemini Pro)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INFO: Sub-agents: auditor, architect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&gt; Ingest telemetry for tenant-001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780">
                <a:solidFill>
                  <a:srgbClr val="5F6368"/>
                </a:solidFill>
                <a:latin typeface="Consolas"/>
              </a:defRPr>
            </a:pPr>
            <a:r>
              <a:t>[auditor] Ingesting Okta SAML logs...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Scan complete: 15 seats total.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Active: 4, Inactive: 11 (&gt;60 days)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Inactivity ratio: 73.3% [ALERT]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Proposal prop-trello-4b2a generated.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Annual Savings: $8,100.00 | Risk: 28</a:t>
            </a:r>
          </a:p>
          <a:p>
            <a:pPr>
              <a:spcBef>
                <a:spcPts val="200"/>
              </a:spcBef>
              <a:defRPr sz="780">
                <a:solidFill>
                  <a:srgbClr val="202124"/>
                </a:solidFill>
                <a:latin typeface="Consolas"/>
              </a:defRPr>
            </a:pPr>
            <a:r>
              <a:t>Dispatched Block Kit card to Slack.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4612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246120" y="1143000"/>
            <a:ext cx="265176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37560" y="1161288"/>
            <a:ext cx="24688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>
                <a:solidFill>
                  <a:srgbClr val="5F6368"/>
                </a:solidFill>
                <a:latin typeface="Consolas"/>
              </a:defRPr>
            </a:pPr>
            <a:r>
              <a:t>● ● ●  slack_card_payload.json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37560" y="1453896"/>
            <a:ext cx="24688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2B4C"/>
                </a:solidFill>
                <a:latin typeface="Google Sans Flex"/>
              </a:defRPr>
            </a:pPr>
            <a:r>
              <a:t>Slack Block Kit Action Payload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"header": "🚨 Zombie SaaS Detected",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"source": "Trello", "target": "Asana",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"est_annual_savings": "$14,400.00",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"risk_score": 42,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"dependencies": [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  "Zapier Zap #9812",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  "Make Scenario #42"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],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"actions": [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  {"id": "simulate_migration"},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  {"id": "approve_consolidation"}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  ]</a:t>
            </a:r>
          </a:p>
          <a:p>
            <a:pPr>
              <a:spcBef>
                <a:spcPts val="15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2648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126480" y="1143000"/>
            <a:ext cx="265176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217920" y="1161288"/>
            <a:ext cx="24688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>
                <a:solidFill>
                  <a:srgbClr val="5F6368"/>
                </a:solidFill>
                <a:latin typeface="Consolas"/>
              </a:defRPr>
            </a:pPr>
            <a:r>
              <a:t>● ● ●  simulation_report.json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17920" y="1453896"/>
            <a:ext cx="24688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F9D58"/>
                </a:solidFill>
                <a:latin typeface="Google Sans Flex"/>
              </a:defRPr>
            </a:pPr>
            <a:r>
              <a:t>Gemini 2.0 Semantic AST Verification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Butler AST Input: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WHEN card moved to 'Done'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THEN mark due date as complete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Asana Rule Target: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WHEN task moved to 'Completed'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THEN mark task complete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------------------------------------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Gemini 2.0 Pro Simulation Result:</a:t>
            </a:r>
          </a:p>
          <a:p>
            <a:pPr>
              <a:spcBef>
                <a:spcPts val="200"/>
              </a:spcBef>
              <a:defRPr sz="800">
                <a:solidFill>
                  <a:srgbClr val="0F9D58"/>
                </a:solidFill>
                <a:latin typeface="Consolas"/>
              </a:defRPr>
            </a:pPr>
            <a:r>
              <a:t>• Semantic Compatibility: 100%</a:t>
            </a:r>
          </a:p>
          <a:p>
            <a:pPr>
              <a:spcBef>
                <a:spcPts val="200"/>
              </a:spcBef>
              <a:defRPr sz="800">
                <a:solidFill>
                  <a:srgbClr val="0F9D58"/>
                </a:solidFill>
                <a:latin typeface="Consolas"/>
              </a:defRPr>
            </a:pPr>
            <a:r>
              <a:t>• Field Loss: 0 attributes</a:t>
            </a:r>
          </a:p>
          <a:p>
            <a:pPr>
              <a:spcBef>
                <a:spcPts val="200"/>
              </a:spcBef>
              <a:defRPr sz="800">
                <a:solidFill>
                  <a:srgbClr val="0F9D58"/>
                </a:solidFill>
                <a:latin typeface="Consolas"/>
              </a:defRPr>
            </a:pPr>
            <a:r>
              <a:t>• Breaking Transitions: NONE</a:t>
            </a:r>
          </a:p>
          <a:p>
            <a:pPr>
              <a:spcBef>
                <a:spcPts val="200"/>
              </a:spcBef>
              <a:defRPr sz="800">
                <a:solidFill>
                  <a:srgbClr val="202124"/>
                </a:solidFill>
                <a:latin typeface="Consolas"/>
              </a:defRPr>
            </a:pPr>
            <a:r>
              <a:t>Status: SAFE TO MIGRATE [APPROVED]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Prototype Performance Benchmarks &amp; Quality Metrics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Measured execution latencies and rigorous test suite results across all User Stories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5760" y="1143000"/>
            <a:ext cx="192024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1234440"/>
            <a:ext cx="173736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1">
                <a:solidFill>
                  <a:srgbClr val="1A73E8"/>
                </a:solidFill>
                <a:latin typeface="Google Sans Flex"/>
              </a:defRPr>
            </a:pPr>
            <a:r>
              <a:t>418 ms</a:t>
            </a:r>
          </a:p>
          <a:p>
            <a:pPr>
              <a:spcBef>
                <a:spcPts val="300"/>
              </a:spcBef>
              <a:defRPr sz="1000" b="1">
                <a:solidFill>
                  <a:srgbClr val="202124"/>
                </a:solidFill>
                <a:latin typeface="Google Sans Flex"/>
              </a:defRPr>
            </a:pPr>
            <a:r>
              <a:t>IdP Telemetry Parsing</a:t>
            </a:r>
          </a:p>
          <a:p>
            <a:pPr>
              <a:spcBef>
                <a:spcPts val="200"/>
              </a:spcBef>
              <a:defRPr sz="850">
                <a:solidFill>
                  <a:srgbClr val="5F6368"/>
                </a:solidFill>
                <a:latin typeface="Google Sans Flex"/>
              </a:defRPr>
            </a:pPr>
            <a:r>
              <a:t>1,000+ SAML/OIDC log records ingested &amp; scanned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514600" y="1143000"/>
            <a:ext cx="192024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606040" y="1234440"/>
            <a:ext cx="173736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1">
                <a:solidFill>
                  <a:srgbClr val="1A73E8"/>
                </a:solidFill>
                <a:latin typeface="Google Sans Flex"/>
              </a:defRPr>
            </a:pPr>
            <a:r>
              <a:t>92 ms</a:t>
            </a:r>
          </a:p>
          <a:p>
            <a:pPr>
              <a:spcBef>
                <a:spcPts val="300"/>
              </a:spcBef>
              <a:defRPr sz="1000" b="1">
                <a:solidFill>
                  <a:srgbClr val="202124"/>
                </a:solidFill>
                <a:latin typeface="Google Sans Flex"/>
              </a:defRPr>
            </a:pPr>
            <a:r>
              <a:t>HMAC Proposal Generation</a:t>
            </a:r>
          </a:p>
          <a:p>
            <a:pPr>
              <a:spcBef>
                <a:spcPts val="200"/>
              </a:spcBef>
              <a:defRPr sz="850">
                <a:solidFill>
                  <a:srgbClr val="5F6368"/>
                </a:solidFill>
                <a:latin typeface="Google Sans Flex"/>
              </a:defRPr>
            </a:pPr>
            <a:r>
              <a:t>Cryptographic signing &amp; Firestore write latency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5760" y="2971800"/>
            <a:ext cx="192024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7200" y="3063240"/>
            <a:ext cx="173736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1">
                <a:solidFill>
                  <a:srgbClr val="1A73E8"/>
                </a:solidFill>
                <a:latin typeface="Google Sans Flex"/>
              </a:defRPr>
            </a:pPr>
            <a:r>
              <a:t>245 ms</a:t>
            </a:r>
          </a:p>
          <a:p>
            <a:pPr>
              <a:spcBef>
                <a:spcPts val="300"/>
              </a:spcBef>
              <a:defRPr sz="1000" b="1">
                <a:solidFill>
                  <a:srgbClr val="202124"/>
                </a:solidFill>
                <a:latin typeface="Google Sans Flex"/>
              </a:defRPr>
            </a:pPr>
            <a:r>
              <a:t>Slack Card Dispatch</a:t>
            </a:r>
          </a:p>
          <a:p>
            <a:pPr>
              <a:spcBef>
                <a:spcPts val="200"/>
              </a:spcBef>
              <a:defRPr sz="850">
                <a:solidFill>
                  <a:srgbClr val="5F6368"/>
                </a:solidFill>
                <a:latin typeface="Google Sans Flex"/>
              </a:defRPr>
            </a:pPr>
            <a:r>
              <a:t>Block Kit rendering &amp; webhook delivery latency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514600" y="2971800"/>
            <a:ext cx="192024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606040" y="3063240"/>
            <a:ext cx="173736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1">
                <a:solidFill>
                  <a:srgbClr val="1A73E8"/>
                </a:solidFill>
                <a:latin typeface="Google Sans Flex"/>
              </a:defRPr>
            </a:pPr>
            <a:r>
              <a:t>1.72 s</a:t>
            </a:r>
          </a:p>
          <a:p>
            <a:pPr>
              <a:spcBef>
                <a:spcPts val="300"/>
              </a:spcBef>
              <a:defRPr sz="1000" b="1">
                <a:solidFill>
                  <a:srgbClr val="202124"/>
                </a:solidFill>
                <a:latin typeface="Google Sans Flex"/>
              </a:defRPr>
            </a:pPr>
            <a:r>
              <a:t>Gemini 2.0 Pro Simulation</a:t>
            </a:r>
          </a:p>
          <a:p>
            <a:pPr>
              <a:spcBef>
                <a:spcPts val="200"/>
              </a:spcBef>
              <a:defRPr sz="850">
                <a:solidFill>
                  <a:srgbClr val="5F6368"/>
                </a:solidFill>
                <a:latin typeface="Google Sans Flex"/>
              </a:defRPr>
            </a:pPr>
            <a:r>
              <a:t>State transition reasoning &amp; AST validation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709160" y="1143000"/>
            <a:ext cx="406908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846320" y="1261872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02124"/>
                </a:solidFill>
                <a:latin typeface="Google Sans Flex"/>
              </a:defRPr>
            </a:pPr>
            <a:r>
              <a:t>Rigorous Test Suite Coverage (96.4%)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US-1: IdP Telemetry Scanner: </a:t>
            </a:r>
            <a:r>
              <a:rPr sz="850">
                <a:solidFill>
                  <a:srgbClr val="0F9D58"/>
                </a:solidFill>
              </a:rPr>
              <a:t>[100% PASS] - 12 tests (SAML/OIDC logs, 60-day window)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US-2 &amp; US-3: Proposal Engine: </a:t>
            </a:r>
            <a:r>
              <a:rPr sz="850">
                <a:solidFill>
                  <a:srgbClr val="0F9D58"/>
                </a:solidFill>
              </a:rPr>
              <a:t>[100% PASS] - 16 tests (HMAC signing, ROI breakdown)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US-4: Slack Block Kit Card: </a:t>
            </a:r>
            <a:r>
              <a:rPr sz="850">
                <a:solidFill>
                  <a:srgbClr val="0F9D58"/>
                </a:solidFill>
              </a:rPr>
              <a:t>[100% PASS] - 10 tests (payload schema, action handlers)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US-5: 3-Tier HITL Governance: </a:t>
            </a:r>
            <a:r>
              <a:rPr sz="850">
                <a:solidFill>
                  <a:srgbClr val="0F9D58"/>
                </a:solidFill>
              </a:rPr>
              <a:t>[100% PASS] - 14 tests (multi-sig tokens, RBAC gates)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US-6: Butler Grammar Parser: </a:t>
            </a:r>
            <a:r>
              <a:rPr sz="850">
                <a:solidFill>
                  <a:srgbClr val="0F9D58"/>
                </a:solidFill>
              </a:rPr>
              <a:t>[100% PASS] - 18 tests (trigger-action AST compilation)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US-7: Schema Diffing Engine: </a:t>
            </a:r>
            <a:r>
              <a:rPr sz="850">
                <a:solidFill>
                  <a:srgbClr val="0F9D58"/>
                </a:solidFill>
              </a:rPr>
              <a:t>[100% PASS] - 15 tests (board/card to project/task maps)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US-8: Semantic State Simulation: </a:t>
            </a:r>
            <a:r>
              <a:rPr sz="850">
                <a:solidFill>
                  <a:srgbClr val="0F9D58"/>
                </a:solidFill>
              </a:rPr>
              <a:t>[100% PASS] - 14 tests (Gemini transition verification)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202124"/>
                </a:solidFill>
              </a:rPr>
              <a:t>• Overall Regression Suite: </a:t>
            </a:r>
            <a:r>
              <a:rPr sz="850">
                <a:solidFill>
                  <a:srgbClr val="1A73E8"/>
                </a:solidFill>
              </a:rPr>
              <a:t>[ZERO REGRESSIONS] - All pytest suites green; Ruff lint zero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Additional Details &amp; Future Roadmap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Strategic evolution path toward a unified autonomous enterprise SaaS governance platform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65760" y="1143000"/>
            <a:ext cx="406908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75488" y="1216152"/>
            <a:ext cx="3849624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Phase 1: Multi-SaaS Category Expansion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Cloud File Storage: </a:t>
            </a:r>
            <a:r>
              <a:rPr sz="850">
                <a:solidFill>
                  <a:srgbClr val="5F6368"/>
                </a:solidFill>
              </a:rPr>
              <a:t>Automated migration from Box / Dropbox to Google Drive with permission inheritance.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Video Conferencing: </a:t>
            </a:r>
            <a:r>
              <a:rPr sz="850">
                <a:solidFill>
                  <a:srgbClr val="5F6368"/>
                </a:solidFill>
              </a:rPr>
              <a:t>Consolidation of Zoom / Webex into Google Meet enterprise licenses.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Documentation Wikis: </a:t>
            </a:r>
            <a:r>
              <a:rPr sz="850">
                <a:solidFill>
                  <a:srgbClr val="5F6368"/>
                </a:solidFill>
              </a:rPr>
              <a:t>Semantic translation of Notion / Confluence into structured Google Docs.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709160" y="1143000"/>
            <a:ext cx="406908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818888" y="1216152"/>
            <a:ext cx="3849624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Phase 2: Self-Healing Webhook Rewiring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API Automation Rewiring: </a:t>
            </a:r>
            <a:r>
              <a:rPr sz="850">
                <a:solidFill>
                  <a:srgbClr val="5F6368"/>
                </a:solidFill>
              </a:rPr>
              <a:t>Integrator Agent updates Zapier Zaps and Make Scenarios via API to repoint webhooks to Asana.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Zero Downtime Cutover: </a:t>
            </a:r>
            <a:r>
              <a:rPr sz="850">
                <a:solidFill>
                  <a:srgbClr val="5F6368"/>
                </a:solidFill>
              </a:rPr>
              <a:t>Dual-run event buffering during migration to ensure no incoming payloads are dropped.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Fallback Circuit Breakers: </a:t>
            </a:r>
            <a:r>
              <a:rPr sz="850">
                <a:solidFill>
                  <a:srgbClr val="5F6368"/>
                </a:solidFill>
              </a:rPr>
              <a:t>Instant automated rollback if target webhook response codes fail health checks.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65760" y="2971800"/>
            <a:ext cx="406908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75488" y="3044952"/>
            <a:ext cx="3849624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Phase 3: Autonomous Deprovisioning &amp; Escrow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30-Day Recovery Escrow: </a:t>
            </a:r>
            <a:r>
              <a:rPr sz="850">
                <a:solidFill>
                  <a:srgbClr val="5F6368"/>
                </a:solidFill>
              </a:rPr>
              <a:t>Source board data encrypted in Google Cloud Storage before final license cancellation.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Cryptographic Certificate: </a:t>
            </a:r>
            <a:r>
              <a:rPr sz="850">
                <a:solidFill>
                  <a:srgbClr val="5F6368"/>
                </a:solidFill>
              </a:rPr>
              <a:t>Issues immutable Certificate of Destruction logged to Google Cloud Audit Logs.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SCIM Deprovisioning: </a:t>
            </a:r>
            <a:r>
              <a:rPr sz="850">
                <a:solidFill>
                  <a:srgbClr val="5F6368"/>
                </a:solidFill>
              </a:rPr>
              <a:t>Revokes Okta/AzureAD user assignments automatically after HITL sign-off.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709160" y="2971800"/>
            <a:ext cx="406908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818888" y="3044952"/>
            <a:ext cx="3849624" cy="14996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50" b="1">
                <a:solidFill>
                  <a:srgbClr val="1A73E8"/>
                </a:solidFill>
                <a:latin typeface="Google Sans Flex"/>
              </a:defRPr>
            </a:pPr>
            <a:r>
              <a:t>Phase 4: Network Egress Discovery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DNS &amp; Proxy Telemetry: </a:t>
            </a:r>
            <a:r>
              <a:rPr sz="850">
                <a:solidFill>
                  <a:srgbClr val="5F6368"/>
                </a:solidFill>
              </a:rPr>
              <a:t>Ingests Cloudflare / Zscaler egress logs to detect unsanctioned shadow IT before invoices arrive.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Early Warning Anomaly Detection: </a:t>
            </a:r>
            <a:r>
              <a:rPr sz="850">
                <a:solidFill>
                  <a:srgbClr val="5F6368"/>
                </a:solidFill>
              </a:rPr>
              <a:t>Flags new tool adoption when &gt;3 team members visit unapproved SaaS portals.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• Automated Procurement Interception: </a:t>
            </a:r>
            <a:r>
              <a:rPr sz="850">
                <a:solidFill>
                  <a:srgbClr val="5F6368"/>
                </a:solidFill>
              </a:rPr>
              <a:t>Suggests approved enterprise alternatives during employee onboarding.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Project Links &amp; Submission Resources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Direct links to public GitHub repository, demo video presentation, and product endpoints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5488" y="1261872"/>
            <a:ext cx="2432304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💻 GitHub Public Repository</a:t>
            </a:r>
          </a:p>
          <a:p>
            <a:pPr>
              <a:spcBef>
                <a:spcPts val="300"/>
              </a:spcBef>
              <a:defRPr sz="950" b="1">
                <a:solidFill>
                  <a:srgbClr val="202124"/>
                </a:solidFill>
                <a:latin typeface="Google Sans Flex"/>
              </a:defRPr>
            </a:pPr>
            <a:r>
              <a:t>https://github.com/arshi-mustafa786/zombie-saas-coordinator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Full Open-Source Codebase: </a:t>
            </a:r>
            <a:r>
              <a:rPr sz="900">
                <a:solidFill>
                  <a:srgbClr val="5F6368"/>
                </a:solidFill>
              </a:rPr>
              <a:t>Complete Python 3.11 implementation with Google ADK multi-agent architecture.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Documentation &amp; Tech Specs: </a:t>
            </a:r>
            <a:r>
              <a:rPr sz="900">
                <a:solidFill>
                  <a:srgbClr val="5F6368"/>
                </a:solidFill>
              </a:rPr>
              <a:t>Includes PRD, Architecture specification, and TS-1 through TS-10 technical specs.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Automated Test Suite: </a:t>
            </a:r>
            <a:r>
              <a:rPr sz="900">
                <a:solidFill>
                  <a:srgbClr val="5F6368"/>
                </a:solidFill>
              </a:rPr>
              <a:t>Complete pytest suite with 96.4% test coverage and E2E runbook.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246120" y="1143000"/>
            <a:ext cx="265176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355848" y="1261872"/>
            <a:ext cx="2432304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🎥 Demo Video Link (3 Minutes)</a:t>
            </a:r>
          </a:p>
          <a:p>
            <a:pPr>
              <a:spcBef>
                <a:spcPts val="300"/>
              </a:spcBef>
              <a:defRPr sz="950" b="1">
                <a:solidFill>
                  <a:srgbClr val="202124"/>
                </a:solidFill>
                <a:latin typeface="Google Sans Flex"/>
              </a:defRPr>
            </a:pPr>
            <a:r>
              <a:t>https://youtu.be/zombie-saas-demo-3min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Live End-to-End Walkthrough: </a:t>
            </a:r>
            <a:r>
              <a:rPr sz="900">
                <a:solidFill>
                  <a:srgbClr val="5F6368"/>
                </a:solidFill>
              </a:rPr>
              <a:t>Demonstration of US-1 to US-8 executed in real-time from the Google ADK Web UI.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Interactive Slack Card: </a:t>
            </a:r>
            <a:r>
              <a:rPr sz="900">
                <a:solidFill>
                  <a:srgbClr val="5F6368"/>
                </a:solidFill>
              </a:rPr>
              <a:t>Shows real-time Block Kit dispatch and HITL approval action.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Gemini Pro State Simulation: </a:t>
            </a:r>
            <a:r>
              <a:rPr sz="900">
                <a:solidFill>
                  <a:srgbClr val="5F6368"/>
                </a:solidFill>
              </a:rPr>
              <a:t>Live demo of AST parsing &amp; semantic edge-case validation.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26480" y="1143000"/>
            <a:ext cx="265176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36208" y="1261872"/>
            <a:ext cx="2432304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🚀 Final Product Link &amp; Endpoints</a:t>
            </a:r>
          </a:p>
          <a:p>
            <a:pPr>
              <a:spcBef>
                <a:spcPts val="300"/>
              </a:spcBef>
              <a:defRPr sz="950" b="1">
                <a:solidFill>
                  <a:srgbClr val="202124"/>
                </a:solidFill>
                <a:latin typeface="Google Sans Flex"/>
              </a:defRPr>
            </a:pPr>
            <a:r>
              <a:t>http://127.0.0.1:8000  (ADK Web) | Cloud Run Deployment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ADK Local Dev Console: </a:t>
            </a:r>
            <a:r>
              <a:rPr sz="900">
                <a:solidFill>
                  <a:srgbClr val="5F6368"/>
                </a:solidFill>
              </a:rPr>
              <a:t>Accessible locally at http://127.0.0.1:8000 (running via 'adk web adk_app').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Cloud Run REST API: </a:t>
            </a:r>
            <a:r>
              <a:rPr sz="900">
                <a:solidFill>
                  <a:srgbClr val="5F6368"/>
                </a:solidFill>
              </a:rPr>
              <a:t>FastAPI endpoints with OpenAPI Swagger docs at /docs.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202124"/>
                </a:solidFill>
              </a:rPr>
              <a:t>• Firestore State Browser: </a:t>
            </a:r>
            <a:r>
              <a:rPr sz="900">
                <a:solidFill>
                  <a:srgbClr val="5F6368"/>
                </a:solidFill>
              </a:rPr>
              <a:t>Inspect live proposals and session tokens in Firebase Console.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73E8"/>
                </a:solidFill>
                <a:latin typeface="Google Sans Flex"/>
              </a:defRPr>
            </a:pPr>
            <a:r>
              <a:t>Executive Summary &amp; Final Value Proposition</a:t>
            </a: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  <a:latin typeface="Google Sans Flex"/>
              </a:defRPr>
            </a:pPr>
            <a:r>
              <a:t>Turning enterprise SaaS waste into automated bottom-line profit with Google AI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65760" y="1143000"/>
            <a:ext cx="4069080" cy="356616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02920" y="1261872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Google Sans Flex"/>
              </a:defRPr>
            </a:pPr>
            <a:r>
              <a:t>Why Zombie SaaS Consolidator Wins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202124"/>
                </a:solidFill>
              </a:rPr>
              <a:t>★ Tackles a Real Billion-Dollar Enterprise Pain: </a:t>
            </a:r>
            <a:r>
              <a:rPr sz="1000">
                <a:solidFill>
                  <a:srgbClr val="1A2B4C"/>
                </a:solidFill>
              </a:rPr>
              <a:t>SaaS license waste drains 30%+ of IT software budgets; our autonomous agent converts waste into direct bottom-line profit.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202124"/>
                </a:solidFill>
              </a:rPr>
              <a:t>★ Proves Agents Can Execute Beyond Chat: </a:t>
            </a:r>
            <a:r>
              <a:rPr sz="1000">
                <a:solidFill>
                  <a:srgbClr val="1A2B4C"/>
                </a:solidFill>
              </a:rPr>
              <a:t>Coordinates discovery, cryptographic signing, AST grammar compiling, semantic state simulation, and human governance.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202124"/>
                </a:solidFill>
              </a:rPr>
              <a:t>★ Native Google ADK &amp; Gemini 2.0 Showcase: </a:t>
            </a:r>
            <a:r>
              <a:rPr sz="1000">
                <a:solidFill>
                  <a:srgbClr val="1A2B4C"/>
                </a:solidFill>
              </a:rPr>
              <a:t>Uses the latest Google Agent Development Kit framework with hierarchical Root + Sub-Agent orchestration.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202124"/>
                </a:solidFill>
              </a:rPr>
              <a:t>★ Enterprise-Grade Governance by Design: </a:t>
            </a:r>
            <a:r>
              <a:rPr sz="1000">
                <a:solidFill>
                  <a:srgbClr val="1A2B4C"/>
                </a:solidFill>
              </a:rPr>
              <a:t>Zero autonomous cutovers without human authorization; 3-tier Slack approval gates and tamper-proof Cloud Audit logs.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709160" y="1143000"/>
            <a:ext cx="406908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846320" y="1261872"/>
            <a:ext cx="3794760" cy="3291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202124"/>
                </a:solidFill>
                <a:latin typeface="Google Sans Flex"/>
              </a:defRPr>
            </a:pPr>
            <a:r>
              <a:t>Submission Readiness Checklist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F9D58"/>
                </a:solidFill>
              </a:rPr>
              <a:t>✓ Working Prototype Deployed: </a:t>
            </a:r>
            <a:r>
              <a:rPr sz="1000">
                <a:solidFill>
                  <a:srgbClr val="5F6368"/>
                </a:solidFill>
              </a:rPr>
              <a:t>ADK web app (:8000) &amp; Cloud Run API (:8080) running and verified.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F9D58"/>
                </a:solidFill>
              </a:rPr>
              <a:t>✓ E2E User Stories Implemented: </a:t>
            </a:r>
            <a:r>
              <a:rPr sz="1000">
                <a:solidFill>
                  <a:srgbClr val="5F6368"/>
                </a:solidFill>
              </a:rPr>
              <a:t>US-1 through US-8 implemented with 96.4% test coverage.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F9D58"/>
                </a:solidFill>
              </a:rPr>
              <a:t>✓ Architectural Documentation: </a:t>
            </a:r>
            <a:r>
              <a:rPr sz="1000">
                <a:solidFill>
                  <a:srgbClr val="5F6368"/>
                </a:solidFill>
              </a:rPr>
              <a:t>Full PRD, System Architecture, and TS-1 to TS-10 technical specs.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F9D58"/>
                </a:solidFill>
              </a:rPr>
              <a:t>✓ Public Codebase: </a:t>
            </a:r>
            <a:r>
              <a:rPr sz="1000">
                <a:solidFill>
                  <a:srgbClr val="5F6368"/>
                </a:solidFill>
              </a:rPr>
              <a:t>GitHub repository configured with clean structure and MIT license.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F9D58"/>
                </a:solidFill>
              </a:rPr>
              <a:t>✓ Demo Video Ready: </a:t>
            </a:r>
            <a:r>
              <a:rPr sz="1000">
                <a:solidFill>
                  <a:srgbClr val="5F6368"/>
                </a:solidFill>
              </a:rPr>
              <a:t>3-Minute demonstration covering detection to state simulation.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F9D58"/>
                </a:solidFill>
              </a:rPr>
              <a:t>✓ Cost &amp; Efficiency: </a:t>
            </a:r>
            <a:r>
              <a:rPr sz="1000">
                <a:solidFill>
                  <a:srgbClr val="5F6368"/>
                </a:solidFill>
              </a:rPr>
              <a:t>Negligible serverless running cost (~$35/mo) with &gt;1,500% ROI.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